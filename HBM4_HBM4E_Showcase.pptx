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5F7FA"/>
                </a:solidFill>
                <a:latin typeface="Segoe UI"/>
              </a:defRPr>
            </a:pPr>
            <a:r>
              <a:t>High Bandwidth Memory (HBM4/HBM4E)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5F7FA"/>
                </a:solidFill>
                <a:latin typeface="Segoe UI"/>
              </a:defRPr>
            </a:pPr>
            <a:r>
              <a:t>Presented by: Jai Akash T</a:t>
            </a:r>
          </a:p>
          <a:p>
            <a:pPr>
              <a:spcAft>
                <a:spcPts val="600"/>
              </a:spcAft>
              <a:defRPr sz="2000" b="1">
                <a:solidFill>
                  <a:srgbClr val="9B72CB"/>
                </a:solidFill>
                <a:latin typeface="Segoe UI"/>
              </a:defRPr>
            </a:pPr>
            <a:r>
              <a:t>Register Number: 243115106037</a:t>
            </a:r>
          </a:p>
          <a:p>
            <a:pPr>
              <a:defRPr sz="2000" b="1">
                <a:solidFill>
                  <a:srgbClr val="9B72CB"/>
                </a:solidFill>
                <a:latin typeface="Segoe UI"/>
              </a:defRPr>
            </a:pPr>
            <a:r>
              <a:t>Class Section: ECE-3A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8E9FB6"/>
                </a:solidFill>
                <a:latin typeface="Segoe UI"/>
              </a:defRPr>
            </a:pPr>
            <a:r>
              <a:t>A simple guide to the 3D-stacked vertical silicon chip structures, microscopic vertical copper wire connects, and high-speed lanes powering next-gen AI supercomputers.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Memory Bottleneck in Modern AI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285F4"/>
                </a:solidFill>
                <a:latin typeface="Segoe UI"/>
              </a:defRPr>
            </a:pPr>
            <a:r>
              <a:t>THE LAYMAN WAREHOUSE ANALOGY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Segoe UI"/>
              </a:defRPr>
            </a:pPr>
            <a:r>
              <a:t>DDR Memory is like a warehouse built far away from the factory (GPU).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Segoe UI"/>
              </a:defRPr>
            </a:pPr>
            <a:r>
              <a:t>Trucks (signals) take a long time to travel back and forth on narrow highways.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Segoe UI"/>
              </a:defRPr>
            </a:pPr>
            <a:r>
              <a:t>HBM4 stacks 16 warehouses directly on top of the factory and links them using fast elevators.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6BBA"/>
                </a:solidFill>
                <a:latin typeface="Segoe UI"/>
              </a:defRPr>
            </a:pPr>
            <a:r>
              <a:t>TECHNICAL CHALLENGES WITH DDR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Segoe UI"/>
              </a:defRPr>
            </a:pPr>
            <a:r>
              <a:t>Processor Speeds have scaled up by 1000x over recent years.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Segoe UI"/>
              </a:defRPr>
            </a:pPr>
            <a:r>
              <a:t>Memory Bandwidth has only grown by 10x, leaving high-performance engines starving for data.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Segoe UI"/>
              </a:defRPr>
            </a:pPr>
            <a:r>
              <a:t>Flat Motherboard designs have hit a physical routing limit, preventing wider data highways.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Evolution of High Bandwidth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HBM1 (2013): 1st gen stack with 1024-bit width. 1 GB capacity, 128 GB/s bandwidth.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HBM2 (2016): Capacity expanded to 8 GB. Pins rate scaled to 2.0 Gbps (256 GB/s bandwidth).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HBM3 (2022): 24 GB capacity. Pin rate scaled up to 6.4 Gbps, yielding 819 GB/s bandwidth.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HBM3E (2024): 36 GB capacity, transferring data speeds up to 9.6 Gbps (1.2 TB/s bandwidth).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HBM4 (2025/2026): Doubled bus width (2048-bit). Custom logic base dies on advanced foundry nodes.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HBM4 Architectural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Silicon Interposer: The horizontal silicon highway that connects the GPU side-by-side with the HBM Memory stack.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Custom Logic Base Die: The buffer control die at the bottom. Built on advanced foundry nodes (TSMC N5) to schedule data.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DRAM Stack (12/16-High): Paper-thin memory layers stacked vertically on top of the logic base to packing storage capacity.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Microbumps &amp; TSVs: Microscopic vertical copper wires drilled straight through silicon layers to connect stacked DRAM.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3D Stacking &amp; Processor Access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8E9FB6"/>
                </a:solidFill>
                <a:latin typeface="Segoe UI"/>
              </a:defRPr>
            </a:pPr>
            <a:r>
              <a:t>HBM4 stacks memory layers vertically to bypass physical spacing limits, integrating 4 core operations: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Instruction Fetch (IF): High-speed green data flows routing instruction codes from HBM stack to CPU cores.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Data Read (RD): Standard blue signals transferring operands and parameters from HBM columns to GPU cores.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Data Write (WR): Pink data signals routing processed calculations back from GPU cores into DRAM cell rows.</a:t>
            </a:r>
          </a:p>
          <a:p>
            <a:pPr>
              <a:spcAft>
                <a:spcPts val="1400"/>
              </a:spcAft>
              <a:defRPr sz="1800">
                <a:solidFill>
                  <a:srgbClr val="F5F7FA"/>
                </a:solidFill>
                <a:latin typeface="Segoe UI"/>
              </a:defRPr>
            </a:pPr>
            <a:r>
              <a:t>Memory Refresh (RF): Amber sequencing sweeps that periodically recharge capacitive cells inside DRAM dies.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Performance Metrics &amp;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285F4"/>
                </a:solidFill>
                <a:latin typeface="Segoe UI"/>
              </a:defRPr>
            </a:pPr>
            <a:r>
              <a:t>BANDWIDTH PERFORMANCE</a:t>
            </a:r>
          </a:p>
          <a:p>
            <a:pPr>
              <a:spcAft>
                <a:spcPts val="800"/>
              </a:spcAft>
              <a:defRPr sz="1500">
                <a:solidFill>
                  <a:srgbClr val="F5F7FA"/>
                </a:solidFill>
                <a:latin typeface="Segoe UI"/>
              </a:defRPr>
            </a:pPr>
            <a:r>
              <a:t>DDR5: 38.4 GB/s (Baseline flat bus)</a:t>
            </a:r>
          </a:p>
          <a:p>
            <a:pPr>
              <a:spcAft>
                <a:spcPts val="800"/>
              </a:spcAft>
              <a:defRPr sz="1500">
                <a:solidFill>
                  <a:srgbClr val="F5F7FA"/>
                </a:solidFill>
                <a:latin typeface="Segoe UI"/>
              </a:defRPr>
            </a:pPr>
            <a:r>
              <a:t>GDDR7: 192 GB/s (Dedicated graphics standard)</a:t>
            </a:r>
          </a:p>
          <a:p>
            <a:pPr>
              <a:spcAft>
                <a:spcPts val="800"/>
              </a:spcAft>
              <a:defRPr sz="1500">
                <a:solidFill>
                  <a:srgbClr val="F5F7FA"/>
                </a:solidFill>
                <a:latin typeface="Segoe UI"/>
              </a:defRPr>
            </a:pPr>
            <a:r>
              <a:t>HBM3E: 1228 GB/s (Legacy stacked standard)</a:t>
            </a:r>
          </a:p>
          <a:p>
            <a:pPr>
              <a:spcAft>
                <a:spcPts val="800"/>
              </a:spcAft>
              <a:defRPr sz="1500">
                <a:solidFill>
                  <a:srgbClr val="F5F7FA"/>
                </a:solidFill>
                <a:latin typeface="Segoe UI"/>
              </a:defRPr>
            </a:pPr>
            <a:r>
              <a:t>HBM4: 2048 GB/s (Widescreen 2048-bit bus standard)</a:t>
            </a:r>
          </a:p>
          <a:p>
            <a:pPr>
              <a:spcAft>
                <a:spcPts val="800"/>
              </a:spcAft>
              <a:defRPr sz="1500">
                <a:solidFill>
                  <a:srgbClr val="F5F7FA"/>
                </a:solidFill>
                <a:latin typeface="Segoe UI"/>
              </a:defRPr>
            </a:pPr>
            <a:r>
              <a:t>HBM4E: 2457+ GB/s (Enhanced performance peak)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0" y="1463040"/>
          <a:ext cx="5760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828800"/>
                <a:gridCol w="1828800"/>
              </a:tblGrid>
              <a:tr h="58782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9B72CB"/>
                          </a:solidFill>
                          <a:latin typeface="Segoe UI"/>
                        </a:defRPr>
                      </a:pPr>
                      <a:r>
                        <a:t>Feature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9B72CB"/>
                          </a:solidFill>
                          <a:latin typeface="Segoe UI"/>
                        </a:defRPr>
                      </a:pPr>
                      <a:r>
                        <a:t>HBM4 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9B72CB"/>
                          </a:solidFill>
                          <a:latin typeface="Segoe UI"/>
                        </a:defRPr>
                      </a:pPr>
                      <a:r>
                        <a:t>HBM4E (Enhanced)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Max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Up to 48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96BBA"/>
                          </a:solidFill>
                          <a:latin typeface="Segoe UI"/>
                        </a:defRPr>
                      </a:pPr>
                      <a:r>
                        <a:t>Up to 64 GB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Bus 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2048-bit / 32 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2048-bit / 32 Ch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Data Pin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8.0 Gbps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96BBA"/>
                          </a:solidFill>
                          <a:latin typeface="Segoe UI"/>
                        </a:defRPr>
                      </a:pPr>
                      <a:r>
                        <a:t>9.6+ Gbps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Peak 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2.0 TB/s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96BBA"/>
                          </a:solidFill>
                          <a:latin typeface="Segoe UI"/>
                        </a:defRPr>
                      </a:pPr>
                      <a:r>
                        <a:t>2.45+ TB/s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Logic 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TSMC Custom 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TSMC Custom N5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Stacking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12 / 16 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F7FA"/>
                          </a:solidFill>
                          <a:latin typeface="Segoe UI"/>
                        </a:defRPr>
                      </a:pPr>
                      <a:r>
                        <a:t>12 / 16 Layers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F7FA"/>
                </a:solidFill>
                <a:latin typeface="Segoe UI"/>
              </a:defRPr>
            </a:pPr>
            <a:r>
              <a:t>Manufacturing &amp; Thermal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285F4"/>
                </a:solidFill>
                <a:latin typeface="Segoe UI"/>
              </a:defRPr>
            </a:pPr>
            <a:r>
              <a:t>3D MANUFACTURING WORKFLOW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Segoe UI"/>
              </a:defRPr>
            </a:pPr>
            <a:r>
              <a:t>01. TSV Drilling: Deep RIE lasers drill microscopic channels straight through wafers, filling them with copper to construct vertical conduits.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Segoe UI"/>
              </a:defRPr>
            </a:pPr>
            <a:r>
              <a:t>02. Wafer Thinning: Silicon substrates are ground down to paper-thin ~30μm dimensions to enable multi-layered stacking heights.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Segoe UI"/>
              </a:defRPr>
            </a:pPr>
            <a:r>
              <a:t>03. Hybrid Bonding: Direct atomic Copper-to-Copper fusion merges DRAM layers together, dropping pad pitches below 10μm.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6BBA"/>
                </a:solidFill>
                <a:latin typeface="Segoe UI"/>
              </a:defRPr>
            </a:pPr>
            <a:r>
              <a:t>THERMAL HEAT DISSIPATION MAP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Segoe UI"/>
              </a:defRPr>
            </a:pPr>
            <a:r>
              <a:t>Thermal Penalty: Stacking 16 hot memory layers traps high-power heat in the core logic.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Segoe UI"/>
              </a:defRPr>
            </a:pPr>
            <a:r>
              <a:t>TIM Materials: Advanced interface materials with high thermal conductivity conduct heat up to top lids.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Segoe UI"/>
              </a:defRPr>
            </a:pPr>
            <a:r>
              <a:t>Dummy Vias: Unconnected dummy TSVs are placed inside memory layers to act as passive heat pipeline guides.</a:t>
            </a:r>
          </a:p>
          <a:p>
            <a:pPr>
              <a:spcAft>
                <a:spcPts val="1200"/>
              </a:spcAft>
              <a:defRPr sz="1400">
                <a:solidFill>
                  <a:srgbClr val="F5F7FA"/>
                </a:solidFill>
                <a:latin typeface="Segoe UI"/>
              </a:defRPr>
            </a:pPr>
            <a:r>
              <a:t>Top cap: 45°C | Stack core: 78°C | Logic die: 60°C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5F7FA"/>
                </a:solidFill>
                <a:latin typeface="Segoe U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