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5F7FA"/>
                </a:solidFill>
                <a:latin typeface="Segoe UI"/>
              </a:defRPr>
            </a:pPr>
            <a:r>
              <a:t>High Bandwidth Memory (HBM4/HBM4E)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72CB"/>
                </a:solidFill>
                <a:latin typeface="Segoe UI"/>
              </a:defRPr>
            </a:pPr>
            <a:r>
              <a:t>Presented by: Jai Akash T</a:t>
            </a:r>
            <a:br/>
            <a:r>
              <a:t>Electronics &amp; Communication Engineering (ECE)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8E9FB6"/>
                </a:solidFill>
                <a:latin typeface="Segoe UI"/>
              </a:defRPr>
            </a:pPr>
            <a:r>
              <a:t>A simple guide to the 3D-stacked vertical silicon chip structures, microscopic vertical copper wire connects, and high-speed lanes powering next-gen AI supercomputers.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Memory Bottleneck in Modern AI Computing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285F4"/>
                </a:solidFill>
                <a:latin typeface="Segoe UI"/>
              </a:defRPr>
            </a:pPr>
            <a:r>
              <a:t>THE LAYMAN WAREHOUSE ANALOGY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DDR Memory is like a warehouse built far away from the factory (GPU).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Trucks (signals) take a long time to travel back and forth on narrow highways.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HBM4 stacks 16 warehouses directly on top of the factory and links them using fast elevators.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96BBA"/>
                </a:solidFill>
                <a:latin typeface="Segoe UI"/>
              </a:defRPr>
            </a:pPr>
            <a:r>
              <a:t>TECHNICAL CHALLENGES WITH DDR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Processor Speeds have scaled up by 1000x over recent years.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Memory Bandwidth has only grown by 10x, leaving high-performance engines starving for data.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Flat Motherboard designs have hit a physical routing limit, preventing wider data highways.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Evolution of High Bandwidth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HBM1 (2013): 1st gen stack with 1024-bit width. 1 GB capacity, 128 GB/s bandwidth.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HBM2 (2016): Capacity expanded to 8 GB. Pins rate scaled to 2.0 Gbps (256 GB/s bandwidth).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HBM3 (2022): 24 GB capacity. Pin rate scaled up to 6.4 Gbps, yielding 819 GB/s bandwidth.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HBM3E (2024): 36 GB capacity, transferring data speeds up to 9.6 Gbps (1.2 TB/s bandwidth).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HBM4 (2025/2026): Doubled bus width (2048-bit). Custom logic base dies on advanced foundry nodes.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HBM4 Architectural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Silicon Interposer: The horizontal highway that connects the GPU side-by-side with the HBM Memory stack.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Custom Logic Base Die: The brain of the HBM stack. Built on advanced foundry nodes (TSMC/Samsung/Intel) to route signals.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DRAM Stack (12/16-High): Thin memory layers stacked vertically on top of the logic die to maximize capacity.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Microbumps &amp; TSVs: Vertical connections that link the stacked layers to the base logic die.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Through-Silicon Vias (TSV): Vertical Wires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8E9FB6"/>
                </a:solidFill>
                <a:latin typeface="Segoe UI"/>
              </a:defRPr>
            </a:pPr>
            <a:r>
              <a:t>Simply put: Instead of running long wires around the edges, TSVs are microscopic copper 'elevator shafts' drilled straight through the silicon, letting signals travel vertically and instantly.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How They Are Made: Deep Reactive-Ion Etching carves vias through silicon, insulated with oxides, and filled with copper electroplating.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Why We Use Them: Shorter paths drop trace impedance, prevent heat generation, and open thousands of parallel vertical data lanes.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Production Hurdles: Thinning DRAM wafers down to 30μm makes them fragile. Expansion differences can cause micro-cracking.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3D Stack Visualization: Stacking Chips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8E9FB6"/>
                </a:solidFill>
                <a:latin typeface="Segoe UI"/>
              </a:defRPr>
            </a:pPr>
            <a:r>
              <a:t>Simply put: Like building a skyscraper to fit more office space inside a small city block, HBM4 stacks memory layers vertically to save space and keep data lanes as close as possible.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3D Integration: Stacking DRAM layers vertically minimizes physical foot-space, packing more storage density.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Hybrid Bonding: Future HBM4 stacks will use copper-to-copper direct bonding, dropping pad spacing to under 10μm.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Thermal Caps: Heat spreader metal plates are mounted on top of the stack to pull core heat away quickly.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Pin Configurations &amp; Interface Speeds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2048-Bit Bus Width: HBM4 doubles the bus width of HBM3E (from 1024 to 2048 lines), widening the highway.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Sub-10μm Stacking Pitch: Compact direct hybrid copper-to-copper links bypass old microbump solder thickness parameters.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Data Bandwidth: HBM4 reaches up to 2.0 TB/s per stack, while HBM4E scales beyond 2.4 TB/s.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Pins Count: Scales to over 5,000 interconnect channels per stack, supporting massive parallel computing lanes.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Manufacturing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Stage 1: Wafer Thinning. DRAM wafers are ground down to ~30-40μm thickness (thin as paper).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Stage 2: Laser Via Drilling. Drills microscopic TSV holes straight through memory chip surfaces.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Stage 3: Hybrid Bonding. Copper pads are aligned and bonded directly at room temperature without solder.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Stage 4: Underfill Encapsulation. Liquid epoxy is injected between dies to lock the stack against moisture.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Physical Attributes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Bus Width: HBM2/3 (1024-bit) vs. HBM4/4E (2048-bit).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Pin Speed: HBM3E (9.6 Gbps) vs. HBM4 (14.0 Gbps) and HBM4E (16.0+ Gbps).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Capacity per Stack: HBM3 (24 GB) vs. HBM4 (48 GB) and HBM4E (64 GB).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Bandwidth per Stack: HBM3E (1.2 TB/s) vs. HBM4 (2.0 TB/s) and HBM4E (2.4+ TB/s).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Interconnect Pitch: microbumps (~25μm) vs. hybrid direct copper-to-copper bonding (&lt;10μm).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Thermal Management &amp; Heat Dispersion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Thermal Stacking Penalty: Stacking 16 hot memory layers traps heat in the center cells.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Underfill Material: Epoxy underfills are loaded with alumina particles to help conduct heat away vertically.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High-Thermal Metal Lid: A conductive metal alloy cap covers the top of the stack to extract heat to system fans.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Micro-cooling Vias: Unconnected dummy TSVs are placed inside memory layers to act as passive heat pipelines.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Eco-Footprint &amp; Energy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Energy Drop: 3D stacking drops operational energy by ~30% compared to GDDR7 pipelines.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Short Channels: Keeping copper wires ultra-short prevents electrical losses (impedance core dissipation).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Green AI Datacenters: Lower memory energy prevents high cooling overheads, reducing global CO2 footprints.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Low VDDQ Core Voltages: Drops logic supply voltages to 1.1V/0.4V to keep power consumption low.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Global Market &amp; Business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Core Memory Producers: SK Hynix, Samsung Electronics, and Micron Technologies lead wafer stacks.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Advanced Foundries: TSMC, Samsung, and Intel build the custom high-performance logic base dies.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Datacenter Offtakers: NVIDIA (Hopper/Blackwell), AMD (Instinct MI300/400), Google (TPUs), and AWS.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Joint Engineering: Foundry-Memory alliances are crucial to align pad pitches under 10μm.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Future Roadmap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2024: HBM3E volume production. 36 GB capacity, VDDQ at 1.1V, supporting high-speed training.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2025/2026: HBM4 launch. 48 GB stack size, 2048-bit bus width. Transition to custom logic base dies.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2027/2028: HBM4E debut. Over 2.4 TB/s stack speeds, VDDQ core voltage dropped further to cut heat.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2030+: Optical Waveguides. Replaces copper TSVs with silicon laser channels to bypass speed limits.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Technical Citations &amp;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JEDEC Solid State Association: Defines the mechanical standard specifications and bus dimensions.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IEEE Xplore Journals: Explains thermal expansion stresses, micro-cracking, and silicon thinning methods.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TSMC CoWoS Technical Briefings: Guides layout routines for interposers, microbumps, and hybrid bonding.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5F7FA"/>
                </a:solidFill>
                <a:latin typeface="Segoe U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