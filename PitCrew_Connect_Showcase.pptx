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B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645920"/>
            <a:ext cx="10515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800" b="1">
                <a:solidFill>
                  <a:srgbClr val="F5F7FA"/>
                </a:solidFill>
                <a:latin typeface="Segoe UI"/>
              </a:defRPr>
            </a:pPr>
            <a:r>
              <a:t>PitCrew Connect: On-Demand Mechanic Platform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926080"/>
            <a:ext cx="10515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400" b="1">
                <a:solidFill>
                  <a:srgbClr val="F5F7FA"/>
                </a:solidFill>
                <a:latin typeface="Segoe UI"/>
              </a:defRPr>
            </a:pPr>
            <a:r>
              <a:t>Presented by: Jai Akash T</a:t>
            </a:r>
          </a:p>
          <a:p>
            <a:pPr>
              <a:spcAft>
                <a:spcPts val="600"/>
              </a:spcAft>
              <a:defRPr sz="2000" b="1">
                <a:solidFill>
                  <a:srgbClr val="9B72CB"/>
                </a:solidFill>
                <a:latin typeface="Segoe UI"/>
              </a:defRPr>
            </a:pPr>
            <a:r>
              <a:t>Register Number: 243115106037</a:t>
            </a:r>
          </a:p>
          <a:p>
            <a:pPr>
              <a:defRPr sz="2000" b="1">
                <a:solidFill>
                  <a:srgbClr val="9B72CB"/>
                </a:solidFill>
                <a:latin typeface="Segoe UI"/>
              </a:defRPr>
            </a:pPr>
            <a:r>
              <a:t>Class Section: ECE-3A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38912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>
                <a:solidFill>
                  <a:srgbClr val="8E9FB6"/>
                </a:solidFill>
                <a:latin typeface="Segoe UI"/>
              </a:defRPr>
            </a:pPr>
            <a:r>
              <a:t>An integrated role-based system connecting stranded drivers, verified mechanics, and operational admins in a real-time dispatch and tracking network.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B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5F7FA"/>
                </a:solidFill>
                <a:latin typeface="Segoe UI"/>
              </a:defRPr>
            </a:pPr>
            <a:r>
              <a:t>The Roadside Assistance Bottleneck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49377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4285F4"/>
                </a:solidFill>
                <a:latin typeface="Segoe UI"/>
              </a:defRPr>
            </a:pPr>
            <a:r>
              <a:t>THE LAYMAN CALL CENTER ANALOGY</a:t>
            </a:r>
          </a:p>
          <a:p>
            <a:pPr>
              <a:spcAft>
                <a:spcPts val="1200"/>
              </a:spcAft>
              <a:defRPr sz="1600">
                <a:solidFill>
                  <a:srgbClr val="F5F7FA"/>
                </a:solidFill>
                <a:latin typeface="Segoe UI"/>
              </a:defRPr>
            </a:pPr>
            <a:r>
              <a:t>Traditional roadside assistance is like mailing letters to call a taxi.</a:t>
            </a:r>
          </a:p>
          <a:p>
            <a:pPr>
              <a:spcAft>
                <a:spcPts val="1200"/>
              </a:spcAft>
              <a:defRPr sz="1600">
                <a:solidFill>
                  <a:srgbClr val="F5F7FA"/>
                </a:solidFill>
                <a:latin typeface="Segoe UI"/>
              </a:defRPr>
            </a:pPr>
            <a:r>
              <a:t>Stranded drivers wait on phone brokers, explain locations blindly, and guess ETAs.</a:t>
            </a:r>
          </a:p>
          <a:p>
            <a:pPr>
              <a:spcAft>
                <a:spcPts val="1200"/>
              </a:spcAft>
              <a:defRPr sz="1600">
                <a:solidFill>
                  <a:srgbClr val="F5F7FA"/>
                </a:solidFill>
                <a:latin typeface="Segoe UI"/>
              </a:defRPr>
            </a:pPr>
            <a:r>
              <a:t>Towing systems suffer from unvetted service quality and manual coordinate dispatch.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0" y="1463040"/>
            <a:ext cx="49377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D96BBA"/>
                </a:solidFill>
                <a:latin typeface="Segoe UI"/>
              </a:defRPr>
            </a:pPr>
            <a:r>
              <a:t>THE PITCREW CONNECT SOLUTION</a:t>
            </a:r>
          </a:p>
          <a:p>
            <a:pPr>
              <a:spcAft>
                <a:spcPts val="1200"/>
              </a:spcAft>
              <a:defRPr sz="1600">
                <a:solidFill>
                  <a:srgbClr val="F5F7FA"/>
                </a:solidFill>
                <a:latin typeface="Segoe UI"/>
              </a:defRPr>
            </a:pPr>
            <a:r>
              <a:t>Digital intake routes breakdown locations directly to regional mechanics.</a:t>
            </a:r>
          </a:p>
          <a:p>
            <a:pPr>
              <a:spcAft>
                <a:spcPts val="1200"/>
              </a:spcAft>
              <a:defRPr sz="1600">
                <a:solidFill>
                  <a:srgbClr val="F5F7FA"/>
                </a:solidFill>
                <a:latin typeface="Segoe UI"/>
              </a:defRPr>
            </a:pPr>
            <a:r>
              <a:t>Interactive route vectors update coordinates in real time on mechanic screens.</a:t>
            </a:r>
          </a:p>
          <a:p>
            <a:pPr>
              <a:spcAft>
                <a:spcPts val="1200"/>
              </a:spcAft>
              <a:defRPr sz="1600">
                <a:solidFill>
                  <a:srgbClr val="F5F7FA"/>
                </a:solidFill>
                <a:latin typeface="Segoe UI"/>
              </a:defRPr>
            </a:pPr>
            <a:r>
              <a:t>Strict operational supervision keeps dispatcher databases secure and vetted.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B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5F7FA"/>
                </a:solidFill>
                <a:latin typeface="Segoe UI"/>
              </a:defRPr>
            </a:pPr>
            <a:r>
              <a:t>Roadside Dispatch Platform Evolution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5156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800">
                <a:solidFill>
                  <a:srgbClr val="F5F7FA"/>
                </a:solidFill>
                <a:latin typeface="Segoe UI"/>
              </a:defRPr>
            </a:pPr>
            <a:r>
              <a:t>Before 2010: Physical directories and paper catalogs (offline towing call lines).</a:t>
            </a:r>
          </a:p>
          <a:p>
            <a:pPr>
              <a:spcAft>
                <a:spcPts val="1400"/>
              </a:spcAft>
              <a:defRPr sz="1800">
                <a:solidFill>
                  <a:srgbClr val="F5F7FA"/>
                </a:solidFill>
                <a:latin typeface="Segoe UI"/>
              </a:defRPr>
            </a:pPr>
            <a:r>
              <a:t>2015: Static business web listings. Drivers call individual shops for quotes.</a:t>
            </a:r>
          </a:p>
          <a:p>
            <a:pPr>
              <a:spcAft>
                <a:spcPts val="1400"/>
              </a:spcAft>
              <a:defRPr sz="1800">
                <a:solidFill>
                  <a:srgbClr val="F5F7FA"/>
                </a:solidFill>
                <a:latin typeface="Segoe UI"/>
              </a:defRPr>
            </a:pPr>
            <a:r>
              <a:t>2020: Consolidated garage portals. Bookings route manually, causing dispatch lag.</a:t>
            </a:r>
          </a:p>
          <a:p>
            <a:pPr>
              <a:spcAft>
                <a:spcPts val="1400"/>
              </a:spcAft>
              <a:defRPr sz="1800">
                <a:solidFill>
                  <a:srgbClr val="F5F7FA"/>
                </a:solidFill>
                <a:latin typeface="Segoe UI"/>
              </a:defRPr>
            </a:pPr>
            <a:r>
              <a:t>2026+: Automated on-demand marketplaces. Vetted mechanic onboarding and live map routes.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B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5F7FA"/>
                </a:solidFill>
                <a:latin typeface="Segoe UI"/>
              </a:defRPr>
            </a:pPr>
            <a:r>
              <a:t>Platform System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5156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800">
                <a:solidFill>
                  <a:srgbClr val="F5F7FA"/>
                </a:solidFill>
                <a:latin typeface="Segoe UI"/>
              </a:defRPr>
            </a:pPr>
            <a:r>
              <a:t>Drivers Frontend: Geolocation client interface. Captures breakdown coords and issue details.</a:t>
            </a:r>
          </a:p>
          <a:p>
            <a:pPr>
              <a:spcAft>
                <a:spcPts val="1400"/>
              </a:spcAft>
              <a:defRPr sz="1800">
                <a:solidFill>
                  <a:srgbClr val="F5F7FA"/>
                </a:solidFill>
                <a:latin typeface="Segoe UI"/>
              </a:defRPr>
            </a:pPr>
            <a:r>
              <a:t>Node.js Backend Server: Central dispatcher. Coordinates requests, matches, and database queries.</a:t>
            </a:r>
          </a:p>
          <a:p>
            <a:pPr>
              <a:spcAft>
                <a:spcPts val="1400"/>
              </a:spcAft>
              <a:defRPr sz="1800">
                <a:solidFill>
                  <a:srgbClr val="F5F7FA"/>
                </a:solidFill>
                <a:latin typeface="Segoe UI"/>
              </a:defRPr>
            </a:pPr>
            <a:r>
              <a:t>Mechanics Client: target interface. Receives job cards, routes, and confirms dispatches.</a:t>
            </a:r>
          </a:p>
          <a:p>
            <a:pPr>
              <a:spcAft>
                <a:spcPts val="1400"/>
              </a:spcAft>
              <a:defRPr sz="1800">
                <a:solidFill>
                  <a:srgbClr val="F5F7FA"/>
                </a:solidFill>
                <a:latin typeface="Segoe UI"/>
              </a:defRPr>
            </a:pPr>
            <a:r>
              <a:t>PostgreSQL Store: Hashed account credentials, active dispatcher logs, and persistent session states.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B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5F7FA"/>
                </a:solidFill>
                <a:latin typeface="Segoe UI"/>
              </a:defRPr>
            </a:pPr>
            <a:r>
              <a:t>Operations &amp; Dispatch Flow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18872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i="1">
                <a:solidFill>
                  <a:srgbClr val="8E9FB6"/>
                </a:solidFill>
                <a:latin typeface="Segoe UI"/>
              </a:defRPr>
            </a:pPr>
            <a:r>
              <a:t>A real-time dispatch cycle coordinate sequence comprising 4 stages: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105156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800">
                <a:solidFill>
                  <a:srgbClr val="F5F7FA"/>
                </a:solidFill>
                <a:latin typeface="Segoe UI"/>
              </a:defRPr>
            </a:pPr>
            <a:r>
              <a:t>01. Drivers Intake (FETCH): Breakdown coordinates and issue summaries routed to dispatch hub.</a:t>
            </a:r>
          </a:p>
          <a:p>
            <a:pPr>
              <a:spcAft>
                <a:spcPts val="1400"/>
              </a:spcAft>
              <a:defRPr sz="1800">
                <a:solidFill>
                  <a:srgbClr val="F5F7FA"/>
                </a:solidFill>
                <a:latin typeface="Segoe UI"/>
              </a:defRPr>
            </a:pPr>
            <a:r>
              <a:t>02. Database Match (READ): Server queries availability and matches closest regional mechanic.</a:t>
            </a:r>
          </a:p>
          <a:p>
            <a:pPr>
              <a:spcAft>
                <a:spcPts val="1400"/>
              </a:spcAft>
              <a:defRPr sz="1800">
                <a:solidFill>
                  <a:srgbClr val="F5F7FA"/>
                </a:solidFill>
                <a:latin typeface="Segoe UI"/>
              </a:defRPr>
            </a:pPr>
            <a:r>
              <a:t>03. Dispatch Confirmation (WRITE): Mechanic confirms match, locking coordinates and starting route.</a:t>
            </a:r>
          </a:p>
          <a:p>
            <a:pPr>
              <a:spcAft>
                <a:spcPts val="1400"/>
              </a:spcAft>
              <a:defRPr sz="1800">
                <a:solidFill>
                  <a:srgbClr val="F5F7FA"/>
                </a:solidFill>
                <a:latin typeface="Segoe UI"/>
              </a:defRPr>
            </a:pPr>
            <a:r>
              <a:t>04. Job Completed (REFRESH): Service settled, database logs archived, and system state refreshed.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B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5F7FA"/>
                </a:solidFill>
                <a:latin typeface="Segoe UI"/>
              </a:defRPr>
            </a:pPr>
            <a:r>
              <a:t>Fulfillment Metrics &amp; Specifications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45720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4285F4"/>
                </a:solidFill>
                <a:latin typeface="Segoe UI"/>
              </a:defRPr>
            </a:pPr>
            <a:r>
              <a:t>OPERATIONAL PERFORMANCE</a:t>
            </a:r>
          </a:p>
          <a:p>
            <a:pPr>
              <a:spcAft>
                <a:spcPts val="1200"/>
              </a:spcAft>
              <a:defRPr sz="1500">
                <a:solidFill>
                  <a:srgbClr val="F5F7FA"/>
                </a:solidFill>
                <a:latin typeface="Segoe UI"/>
              </a:defRPr>
            </a:pPr>
            <a:r>
              <a:t>Phone Call Towing: 45.0 Mins</a:t>
            </a:r>
          </a:p>
          <a:p>
            <a:pPr>
              <a:spcAft>
                <a:spcPts val="1200"/>
              </a:spcAft>
              <a:defRPr sz="1500">
                <a:solidFill>
                  <a:srgbClr val="F5F7FA"/>
                </a:solidFill>
                <a:latin typeface="Segoe UI"/>
              </a:defRPr>
            </a:pPr>
            <a:r>
              <a:t>Local Tow Broker: 32.0 Mins</a:t>
            </a:r>
          </a:p>
          <a:p>
            <a:pPr>
              <a:spcAft>
                <a:spcPts val="1200"/>
              </a:spcAft>
              <a:defRPr sz="1500">
                <a:solidFill>
                  <a:srgbClr val="F5F7FA"/>
                </a:solidFill>
                <a:latin typeface="Segoe UI"/>
              </a:defRPr>
            </a:pPr>
            <a:r>
              <a:t>Insurance Directory: 24.5 Mins</a:t>
            </a:r>
          </a:p>
          <a:p>
            <a:pPr>
              <a:spcAft>
                <a:spcPts val="1200"/>
              </a:spcAft>
              <a:defRPr sz="1500">
                <a:solidFill>
                  <a:srgbClr val="F5F7FA"/>
                </a:solidFill>
                <a:latin typeface="Segoe UI"/>
              </a:defRPr>
            </a:pPr>
            <a:r>
              <a:t>PitCrew Connect: 12.5 Mins (72% speedup)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669280" y="1463040"/>
          <a:ext cx="576072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1828800"/>
                <a:gridCol w="1828800"/>
              </a:tblGrid>
              <a:tr h="82296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9B72CB"/>
                          </a:solidFill>
                          <a:latin typeface="Segoe UI"/>
                        </a:defRPr>
                      </a:pPr>
                      <a:r>
                        <a:t>Platform Feature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9B72CB"/>
                          </a:solidFill>
                          <a:latin typeface="Segoe UI"/>
                        </a:defRPr>
                      </a:pPr>
                      <a:r>
                        <a:t>Legacy Phone Call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9B72CB"/>
                          </a:solidFill>
                          <a:latin typeface="Segoe UI"/>
                        </a:defRPr>
                      </a:pPr>
                      <a:r>
                        <a:t>PitCrew Connect</a:t>
                      </a:r>
                    </a:p>
                  </a:txBody>
                  <a:tcPr/>
                </a:tc>
              </a:tr>
              <a:tr h="82296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F5F7FA"/>
                          </a:solidFill>
                          <a:latin typeface="Segoe UI"/>
                        </a:defRPr>
                      </a:pPr>
                      <a:r>
                        <a:t>Match Dispatch Speed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F5F7FA"/>
                          </a:solidFill>
                          <a:latin typeface="Segoe UI"/>
                        </a:defRPr>
                      </a:pPr>
                      <a:r>
                        <a:t>15-20 Mins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D96BBA"/>
                          </a:solidFill>
                          <a:latin typeface="Segoe UI"/>
                        </a:defRPr>
                      </a:pPr>
                      <a:r>
                        <a:t>2.4 Mins</a:t>
                      </a:r>
                    </a:p>
                  </a:txBody>
                  <a:tcPr/>
                </a:tc>
              </a:tr>
              <a:tr h="82296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F5F7FA"/>
                          </a:solidFill>
                          <a:latin typeface="Segoe UI"/>
                        </a:defRPr>
                      </a:pPr>
                      <a:r>
                        <a:t>Location Accuracy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F5F7FA"/>
                          </a:solidFill>
                          <a:latin typeface="Segoe UI"/>
                        </a:defRPr>
                      </a:pPr>
                      <a:r>
                        <a:t>Approximate street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D96BBA"/>
                          </a:solidFill>
                          <a:latin typeface="Segoe UI"/>
                        </a:defRPr>
                      </a:pPr>
                      <a:r>
                        <a:t>Live GPS Coordinates</a:t>
                      </a:r>
                    </a:p>
                  </a:txBody>
                  <a:tcPr/>
                </a:tc>
              </a:tr>
              <a:tr h="82296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F5F7FA"/>
                          </a:solidFill>
                          <a:latin typeface="Segoe UI"/>
                        </a:defRPr>
                      </a:pPr>
                      <a:r>
                        <a:t>Onboarding Check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F5F7FA"/>
                          </a:solidFill>
                          <a:latin typeface="Segoe UI"/>
                        </a:defRPr>
                      </a:pPr>
                      <a:r>
                        <a:t>None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D96BBA"/>
                          </a:solidFill>
                          <a:latin typeface="Segoe UI"/>
                        </a:defRPr>
                      </a:pPr>
                      <a:r>
                        <a:t>Identity Vetted</a:t>
                      </a:r>
                    </a:p>
                  </a:txBody>
                  <a:tcPr/>
                </a:tc>
              </a:tr>
              <a:tr h="82296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F5F7FA"/>
                          </a:solidFill>
                          <a:latin typeface="Segoe UI"/>
                        </a:defRPr>
                      </a:pPr>
                      <a:r>
                        <a:t>Active Uptime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F5F7FA"/>
                          </a:solidFill>
                          <a:latin typeface="Segoe UI"/>
                        </a:defRPr>
                      </a:pPr>
                      <a:r>
                        <a:t>Office Hours Only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F5F7FA"/>
                          </a:solidFill>
                          <a:latin typeface="Segoe UI"/>
                        </a:defRPr>
                      </a:pPr>
                      <a:r>
                        <a:t>99.98% / 24-7 Core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B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5F7FA"/>
                </a:solidFill>
                <a:latin typeface="Segoe UI"/>
              </a:defRPr>
            </a:pPr>
            <a:r>
              <a:t>Platform Onboarding &amp; Vetting Controls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53035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4285F4"/>
                </a:solidFill>
                <a:latin typeface="Segoe UI"/>
              </a:defRPr>
            </a:pPr>
            <a:r>
              <a:t>COMPLIANCE VERIFICATION PIPELINE</a:t>
            </a:r>
          </a:p>
          <a:p>
            <a:pPr>
              <a:spcAft>
                <a:spcPts val="1200"/>
              </a:spcAft>
              <a:defRPr sz="1400">
                <a:solidFill>
                  <a:srgbClr val="F5F7FA"/>
                </a:solidFill>
                <a:latin typeface="Segoe UI"/>
              </a:defRPr>
            </a:pPr>
            <a:r>
              <a:t>01. Upload Credentials: Mechanics submit registration details, trade licenses, and credentials.</a:t>
            </a:r>
          </a:p>
          <a:p>
            <a:pPr>
              <a:spcAft>
                <a:spcPts val="1200"/>
              </a:spcAft>
              <a:defRPr sz="1400">
                <a:solidFill>
                  <a:srgbClr val="F5F7FA"/>
                </a:solidFill>
                <a:latin typeface="Segoe UI"/>
              </a:defRPr>
            </a:pPr>
            <a:r>
              <a:t>02. Admin Vetting Audits: Platform admins inspect credentials, check background references, and authorize access.</a:t>
            </a:r>
          </a:p>
          <a:p>
            <a:pPr>
              <a:spcAft>
                <a:spcPts val="1200"/>
              </a:spcAft>
              <a:defRPr sz="1400">
                <a:solidFill>
                  <a:srgbClr val="F5F7FA"/>
                </a:solidFill>
                <a:latin typeface="Segoe UI"/>
              </a:defRPr>
            </a:pPr>
            <a:r>
              <a:t>03. System Activation: Approved profiles unlock active dispatch queues and live client route coordinate requests.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0" y="1463040"/>
            <a:ext cx="50292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D96BBA"/>
                </a:solidFill>
                <a:latin typeface="Segoe UI"/>
              </a:defRPr>
            </a:pPr>
            <a:r>
              <a:t>DATA ENCRYPTION &amp; COMPLIANCE</a:t>
            </a:r>
          </a:p>
          <a:p>
            <a:pPr>
              <a:spcAft>
                <a:spcPts val="1200"/>
              </a:spcAft>
              <a:defRPr sz="1400">
                <a:solidFill>
                  <a:srgbClr val="F5F7FA"/>
                </a:solidFill>
                <a:latin typeface="Segoe UI"/>
              </a:defRPr>
            </a:pPr>
            <a:r>
              <a:t>Account Security: Passwords are encrypted on-disk using high-security bcryptjs hashing algorithms.</a:t>
            </a:r>
          </a:p>
          <a:p>
            <a:pPr>
              <a:spcAft>
                <a:spcPts val="1200"/>
              </a:spcAft>
              <a:defRPr sz="1400">
                <a:solidFill>
                  <a:srgbClr val="F5F7FA"/>
                </a:solidFill>
                <a:latin typeface="Segoe UI"/>
              </a:defRPr>
            </a:pPr>
            <a:r>
              <a:t>Role Isolation: Strict middleware limits database query endpoints to matched mechanic accounts.</a:t>
            </a:r>
          </a:p>
          <a:p>
            <a:pPr>
              <a:spcAft>
                <a:spcPts val="1200"/>
              </a:spcAft>
              <a:defRPr sz="1400">
                <a:solidFill>
                  <a:srgbClr val="F5F7FA"/>
                </a:solidFill>
                <a:latin typeface="Segoe UI"/>
              </a:defRPr>
            </a:pPr>
            <a:r>
              <a:t>Compliance: Operational audit logs track completed jobs, invoices, and verified matches.</a:t>
            </a:r>
          </a:p>
          <a:p>
            <a:pPr>
              <a:spcAft>
                <a:spcPts val="1200"/>
              </a:spcAft>
              <a:defRPr sz="1400">
                <a:solidFill>
                  <a:srgbClr val="F5F7FA"/>
                </a:solidFill>
                <a:latin typeface="Segoe UI"/>
              </a:defRPr>
            </a:pPr>
            <a:r>
              <a:t>Hosted live: pitcrew-connect.onrender.com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B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560320"/>
            <a:ext cx="103628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400" b="1">
                <a:solidFill>
                  <a:srgbClr val="F5F7FA"/>
                </a:solidFill>
                <a:latin typeface="Segoe UI"/>
              </a:defRPr>
            </a:pPr>
            <a:r>
              <a:t>THANK YOU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